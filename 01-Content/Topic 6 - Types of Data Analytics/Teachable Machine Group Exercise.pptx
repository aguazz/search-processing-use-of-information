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sldIdLst>
    <p:sldId id="256" r:id="rId2"/>
    <p:sldId id="265" r:id="rId3"/>
    <p:sldId id="257" r:id="rId4"/>
    <p:sldId id="259" r:id="rId5"/>
    <p:sldId id="266" r:id="rId6"/>
    <p:sldId id="268" r:id="rId7"/>
    <p:sldId id="269" r:id="rId8"/>
    <p:sldId id="258" r:id="rId9"/>
    <p:sldId id="260" r:id="rId10"/>
    <p:sldId id="261" r:id="rId11"/>
    <p:sldId id="270" r:id="rId12"/>
    <p:sldId id="271" r:id="rId13"/>
    <p:sldId id="272" r:id="rId14"/>
    <p:sldId id="273" r:id="rId15"/>
    <p:sldId id="262" r:id="rId16"/>
    <p:sldId id="267"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ada Azze, Abel" userId="ff16b1c3-f5ab-4a55-810b-5492ea5151e6" providerId="ADAL" clId="{97BE71C9-80C2-4779-BA9F-6A7784AEC9B3}"/>
    <pc:docChg chg="undo custSel modSld">
      <pc:chgData name="Guada Azze, Abel" userId="ff16b1c3-f5ab-4a55-810b-5492ea5151e6" providerId="ADAL" clId="{97BE71C9-80C2-4779-BA9F-6A7784AEC9B3}" dt="2024-10-02T07:24:53.075" v="37" actId="14100"/>
      <pc:docMkLst>
        <pc:docMk/>
      </pc:docMkLst>
      <pc:sldChg chg="modSp mod">
        <pc:chgData name="Guada Azze, Abel" userId="ff16b1c3-f5ab-4a55-810b-5492ea5151e6" providerId="ADAL" clId="{97BE71C9-80C2-4779-BA9F-6A7784AEC9B3}" dt="2024-10-02T07:24:53.075" v="37" actId="14100"/>
        <pc:sldMkLst>
          <pc:docMk/>
          <pc:sldMk cId="544433540" sldId="258"/>
        </pc:sldMkLst>
        <pc:picChg chg="mod">
          <ac:chgData name="Guada Azze, Abel" userId="ff16b1c3-f5ab-4a55-810b-5492ea5151e6" providerId="ADAL" clId="{97BE71C9-80C2-4779-BA9F-6A7784AEC9B3}" dt="2024-10-02T07:24:53.075" v="37" actId="14100"/>
          <ac:picMkLst>
            <pc:docMk/>
            <pc:sldMk cId="544433540" sldId="258"/>
            <ac:picMk id="5" creationId="{F6CECAD7-02F3-4E3A-B77E-9E36C3B4BF49}"/>
          </ac:picMkLst>
        </pc:picChg>
      </pc:sldChg>
      <pc:sldChg chg="modSp mod">
        <pc:chgData name="Guada Azze, Abel" userId="ff16b1c3-f5ab-4a55-810b-5492ea5151e6" providerId="ADAL" clId="{97BE71C9-80C2-4779-BA9F-6A7784AEC9B3}" dt="2024-10-02T07:24:36.622" v="35" actId="1076"/>
        <pc:sldMkLst>
          <pc:docMk/>
          <pc:sldMk cId="2981203022" sldId="260"/>
        </pc:sldMkLst>
        <pc:spChg chg="mod">
          <ac:chgData name="Guada Azze, Abel" userId="ff16b1c3-f5ab-4a55-810b-5492ea5151e6" providerId="ADAL" clId="{97BE71C9-80C2-4779-BA9F-6A7784AEC9B3}" dt="2024-10-02T07:24:31.804" v="34" actId="1076"/>
          <ac:spMkLst>
            <pc:docMk/>
            <pc:sldMk cId="2981203022" sldId="260"/>
            <ac:spMk id="8" creationId="{C3FB883D-12F1-4DFA-8683-26561C1FA6D6}"/>
          </ac:spMkLst>
        </pc:spChg>
        <pc:spChg chg="mod">
          <ac:chgData name="Guada Azze, Abel" userId="ff16b1c3-f5ab-4a55-810b-5492ea5151e6" providerId="ADAL" clId="{97BE71C9-80C2-4779-BA9F-6A7784AEC9B3}" dt="2024-10-02T07:24:36.622" v="35" actId="1076"/>
          <ac:spMkLst>
            <pc:docMk/>
            <pc:sldMk cId="2981203022" sldId="260"/>
            <ac:spMk id="9" creationId="{92E47D10-196C-4493-A70A-A6E0DAC5F832}"/>
          </ac:spMkLst>
        </pc:spChg>
        <pc:picChg chg="mod">
          <ac:chgData name="Guada Azze, Abel" userId="ff16b1c3-f5ab-4a55-810b-5492ea5151e6" providerId="ADAL" clId="{97BE71C9-80C2-4779-BA9F-6A7784AEC9B3}" dt="2024-10-02T07:24:28.392" v="33" actId="14100"/>
          <ac:picMkLst>
            <pc:docMk/>
            <pc:sldMk cId="2981203022" sldId="260"/>
            <ac:picMk id="7" creationId="{0F436DF2-9B8F-41A5-B560-995E04D73471}"/>
          </ac:picMkLst>
        </pc:picChg>
      </pc:sldChg>
      <pc:sldChg chg="modSp mod">
        <pc:chgData name="Guada Azze, Abel" userId="ff16b1c3-f5ab-4a55-810b-5492ea5151e6" providerId="ADAL" clId="{97BE71C9-80C2-4779-BA9F-6A7784AEC9B3}" dt="2024-10-02T07:06:40.239" v="1" actId="732"/>
        <pc:sldMkLst>
          <pc:docMk/>
          <pc:sldMk cId="978421713" sldId="268"/>
        </pc:sldMkLst>
        <pc:picChg chg="mod modCrop">
          <ac:chgData name="Guada Azze, Abel" userId="ff16b1c3-f5ab-4a55-810b-5492ea5151e6" providerId="ADAL" clId="{97BE71C9-80C2-4779-BA9F-6A7784AEC9B3}" dt="2024-10-02T07:06:40.239" v="1" actId="732"/>
          <ac:picMkLst>
            <pc:docMk/>
            <pc:sldMk cId="978421713" sldId="268"/>
            <ac:picMk id="5" creationId="{F35DC24A-C138-2623-0FC4-9023E49C731D}"/>
          </ac:picMkLst>
        </pc:picChg>
      </pc:sldChg>
      <pc:sldChg chg="delSp modSp mod">
        <pc:chgData name="Guada Azze, Abel" userId="ff16b1c3-f5ab-4a55-810b-5492ea5151e6" providerId="ADAL" clId="{97BE71C9-80C2-4779-BA9F-6A7784AEC9B3}" dt="2024-10-02T07:22:29.107" v="13" actId="1076"/>
        <pc:sldMkLst>
          <pc:docMk/>
          <pc:sldMk cId="3309049541" sldId="270"/>
        </pc:sldMkLst>
        <pc:spChg chg="mod">
          <ac:chgData name="Guada Azze, Abel" userId="ff16b1c3-f5ab-4a55-810b-5492ea5151e6" providerId="ADAL" clId="{97BE71C9-80C2-4779-BA9F-6A7784AEC9B3}" dt="2024-10-02T07:22:04.939" v="3" actId="1076"/>
          <ac:spMkLst>
            <pc:docMk/>
            <pc:sldMk cId="3309049541" sldId="270"/>
            <ac:spMk id="2" creationId="{7E708997-806F-354F-5E9B-FCD2F07A0F54}"/>
          </ac:spMkLst>
        </pc:spChg>
        <pc:spChg chg="del">
          <ac:chgData name="Guada Azze, Abel" userId="ff16b1c3-f5ab-4a55-810b-5492ea5151e6" providerId="ADAL" clId="{97BE71C9-80C2-4779-BA9F-6A7784AEC9B3}" dt="2024-10-02T07:22:00.289" v="2" actId="478"/>
          <ac:spMkLst>
            <pc:docMk/>
            <pc:sldMk cId="3309049541" sldId="270"/>
            <ac:spMk id="3" creationId="{04A0684F-B5CD-CE32-F08B-74925C09FC89}"/>
          </ac:spMkLst>
        </pc:spChg>
        <pc:spChg chg="mod">
          <ac:chgData name="Guada Azze, Abel" userId="ff16b1c3-f5ab-4a55-810b-5492ea5151e6" providerId="ADAL" clId="{97BE71C9-80C2-4779-BA9F-6A7784AEC9B3}" dt="2024-10-02T07:22:29.107" v="13" actId="1076"/>
          <ac:spMkLst>
            <pc:docMk/>
            <pc:sldMk cId="3309049541" sldId="270"/>
            <ac:spMk id="6" creationId="{46FD7E5F-EBE5-461D-A800-E10781307B76}"/>
          </ac:spMkLst>
        </pc:spChg>
        <pc:picChg chg="mod">
          <ac:chgData name="Guada Azze, Abel" userId="ff16b1c3-f5ab-4a55-810b-5492ea5151e6" providerId="ADAL" clId="{97BE71C9-80C2-4779-BA9F-6A7784AEC9B3}" dt="2024-10-02T07:22:24.413" v="12" actId="1076"/>
          <ac:picMkLst>
            <pc:docMk/>
            <pc:sldMk cId="3309049541" sldId="270"/>
            <ac:picMk id="5" creationId="{728FF713-C3B8-A6CF-4C10-5925A965B025}"/>
          </ac:picMkLst>
        </pc:picChg>
      </pc:sldChg>
      <pc:sldChg chg="modSp mod">
        <pc:chgData name="Guada Azze, Abel" userId="ff16b1c3-f5ab-4a55-810b-5492ea5151e6" providerId="ADAL" clId="{97BE71C9-80C2-4779-BA9F-6A7784AEC9B3}" dt="2024-10-02T07:22:54.932" v="19" actId="1076"/>
        <pc:sldMkLst>
          <pc:docMk/>
          <pc:sldMk cId="1901831793" sldId="271"/>
        </pc:sldMkLst>
        <pc:spChg chg="mod">
          <ac:chgData name="Guada Azze, Abel" userId="ff16b1c3-f5ab-4a55-810b-5492ea5151e6" providerId="ADAL" clId="{97BE71C9-80C2-4779-BA9F-6A7784AEC9B3}" dt="2024-10-02T07:22:54.932" v="19" actId="1076"/>
          <ac:spMkLst>
            <pc:docMk/>
            <pc:sldMk cId="1901831793" sldId="271"/>
            <ac:spMk id="6" creationId="{9781E873-7C25-E173-8530-593A4759277A}"/>
          </ac:spMkLst>
        </pc:spChg>
        <pc:picChg chg="mod">
          <ac:chgData name="Guada Azze, Abel" userId="ff16b1c3-f5ab-4a55-810b-5492ea5151e6" providerId="ADAL" clId="{97BE71C9-80C2-4779-BA9F-6A7784AEC9B3}" dt="2024-10-02T07:22:51.290" v="18" actId="14100"/>
          <ac:picMkLst>
            <pc:docMk/>
            <pc:sldMk cId="1901831793" sldId="271"/>
            <ac:picMk id="5" creationId="{9751F473-FD82-7D78-B754-27A23BEB064E}"/>
          </ac:picMkLst>
        </pc:picChg>
      </pc:sldChg>
      <pc:sldChg chg="modSp mod">
        <pc:chgData name="Guada Azze, Abel" userId="ff16b1c3-f5ab-4a55-810b-5492ea5151e6" providerId="ADAL" clId="{97BE71C9-80C2-4779-BA9F-6A7784AEC9B3}" dt="2024-10-02T07:23:11.080" v="22" actId="1076"/>
        <pc:sldMkLst>
          <pc:docMk/>
          <pc:sldMk cId="4232293041" sldId="272"/>
        </pc:sldMkLst>
        <pc:spChg chg="mod">
          <ac:chgData name="Guada Azze, Abel" userId="ff16b1c3-f5ab-4a55-810b-5492ea5151e6" providerId="ADAL" clId="{97BE71C9-80C2-4779-BA9F-6A7784AEC9B3}" dt="2024-10-02T07:23:11.080" v="22" actId="1076"/>
          <ac:spMkLst>
            <pc:docMk/>
            <pc:sldMk cId="4232293041" sldId="272"/>
            <ac:spMk id="6" creationId="{AB7CE4AA-8AE3-AA9D-A47B-D503659D05F1}"/>
          </ac:spMkLst>
        </pc:spChg>
      </pc:sldChg>
      <pc:sldChg chg="delSp modSp mod">
        <pc:chgData name="Guada Azze, Abel" userId="ff16b1c3-f5ab-4a55-810b-5492ea5151e6" providerId="ADAL" clId="{97BE71C9-80C2-4779-BA9F-6A7784AEC9B3}" dt="2024-10-02T07:23:55.057" v="32" actId="1076"/>
        <pc:sldMkLst>
          <pc:docMk/>
          <pc:sldMk cId="997661793" sldId="273"/>
        </pc:sldMkLst>
        <pc:spChg chg="mod">
          <ac:chgData name="Guada Azze, Abel" userId="ff16b1c3-f5ab-4a55-810b-5492ea5151e6" providerId="ADAL" clId="{97BE71C9-80C2-4779-BA9F-6A7784AEC9B3}" dt="2024-10-02T07:23:55.057" v="32" actId="1076"/>
          <ac:spMkLst>
            <pc:docMk/>
            <pc:sldMk cId="997661793" sldId="273"/>
            <ac:spMk id="2" creationId="{B971DA78-BF43-D44A-D219-D9B142AD6E71}"/>
          </ac:spMkLst>
        </pc:spChg>
        <pc:spChg chg="del">
          <ac:chgData name="Guada Azze, Abel" userId="ff16b1c3-f5ab-4a55-810b-5492ea5151e6" providerId="ADAL" clId="{97BE71C9-80C2-4779-BA9F-6A7784AEC9B3}" dt="2024-10-02T07:23:15.209" v="23" actId="478"/>
          <ac:spMkLst>
            <pc:docMk/>
            <pc:sldMk cId="997661793" sldId="273"/>
            <ac:spMk id="3" creationId="{73A306D2-6D5F-5733-A8E1-E005D7507B8D}"/>
          </ac:spMkLst>
        </pc:spChg>
        <pc:picChg chg="mod">
          <ac:chgData name="Guada Azze, Abel" userId="ff16b1c3-f5ab-4a55-810b-5492ea5151e6" providerId="ADAL" clId="{97BE71C9-80C2-4779-BA9F-6A7784AEC9B3}" dt="2024-10-02T07:23:47.678" v="30" actId="1076"/>
          <ac:picMkLst>
            <pc:docMk/>
            <pc:sldMk cId="997661793" sldId="273"/>
            <ac:picMk id="4" creationId="{89A3C79F-1299-03D8-FDC0-42C388F039E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10/2/2024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4073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78098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81569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0751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1003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28534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194167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8719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813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193529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10/2/2024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9820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10/2/2024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212749245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76" r:id="rId6"/>
    <p:sldLayoutId id="2147483672" r:id="rId7"/>
    <p:sldLayoutId id="2147483673" r:id="rId8"/>
    <p:sldLayoutId id="2147483674" r:id="rId9"/>
    <p:sldLayoutId id="2147483675" r:id="rId10"/>
    <p:sldLayoutId id="2147483677"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teachablemachine.withgoogle.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kwcillcWOg0" TargetMode="External"/><Relationship Id="rId2" Type="http://schemas.openxmlformats.org/officeDocument/2006/relationships/hyperlink" Target="https://www.youtube.com/playlist?list=PLJfHZtseuscuTQfodmFnbZ3rBgCWsRT9t" TargetMode="External"/><Relationship Id="rId1" Type="http://schemas.openxmlformats.org/officeDocument/2006/relationships/slideLayout" Target="../slideLayouts/slideLayout2.xml"/><Relationship Id="rId5" Type="http://schemas.openxmlformats.org/officeDocument/2006/relationships/hyperlink" Target="https://www.youtube.com/watch?v=TOrVsLklltM" TargetMode="External"/><Relationship Id="rId4" Type="http://schemas.openxmlformats.org/officeDocument/2006/relationships/hyperlink" Target="https://www.youtube.com/watch?v=UPgxnGC8oB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alculator and maths tools on a surface">
            <a:extLst>
              <a:ext uri="{FF2B5EF4-FFF2-40B4-BE49-F238E27FC236}">
                <a16:creationId xmlns:a16="http://schemas.microsoft.com/office/drawing/2014/main" id="{90DBF06D-F991-4963-A4E4-0E2CCE71B96F}"/>
              </a:ext>
            </a:extLst>
          </p:cNvPr>
          <p:cNvPicPr>
            <a:picLocks noChangeAspect="1"/>
          </p:cNvPicPr>
          <p:nvPr/>
        </p:nvPicPr>
        <p:blipFill rotWithShape="1">
          <a:blip r:embed="rId2">
            <a:alphaModFix amt="50000"/>
          </a:blip>
          <a:srcRect t="15709"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BAADBA8E-037B-4B1B-B7F5-4330DB994E46}"/>
              </a:ext>
            </a:extLst>
          </p:cNvPr>
          <p:cNvSpPr>
            <a:spLocks noGrp="1"/>
          </p:cNvSpPr>
          <p:nvPr>
            <p:ph type="ctrTitle"/>
          </p:nvPr>
        </p:nvSpPr>
        <p:spPr>
          <a:xfrm>
            <a:off x="1524000" y="1122363"/>
            <a:ext cx="9144000" cy="3063240"/>
          </a:xfrm>
        </p:spPr>
        <p:txBody>
          <a:bodyPr>
            <a:normAutofit/>
          </a:bodyPr>
          <a:lstStyle/>
          <a:p>
            <a:pPr algn="ctr"/>
            <a:r>
              <a:rPr lang="en-US" dirty="0"/>
              <a:t>Teachable Machine </a:t>
            </a:r>
            <a:endParaRPr lang="en-US"/>
          </a:p>
        </p:txBody>
      </p:sp>
      <p:sp>
        <p:nvSpPr>
          <p:cNvPr id="3" name="Subtitle 2">
            <a:extLst>
              <a:ext uri="{FF2B5EF4-FFF2-40B4-BE49-F238E27FC236}">
                <a16:creationId xmlns:a16="http://schemas.microsoft.com/office/drawing/2014/main" id="{FF0EA79D-0CFC-44A5-98E3-971700567F12}"/>
              </a:ext>
            </a:extLst>
          </p:cNvPr>
          <p:cNvSpPr>
            <a:spLocks noGrp="1"/>
          </p:cNvSpPr>
          <p:nvPr>
            <p:ph type="subTitle" idx="1"/>
          </p:nvPr>
        </p:nvSpPr>
        <p:spPr>
          <a:xfrm>
            <a:off x="1524000" y="4599432"/>
            <a:ext cx="9144000" cy="1225296"/>
          </a:xfrm>
        </p:spPr>
        <p:txBody>
          <a:bodyPr>
            <a:normAutofit/>
          </a:bodyPr>
          <a:lstStyle/>
          <a:p>
            <a:pPr algn="ctr"/>
            <a:r>
              <a:rPr lang="en-US" sz="3200"/>
              <a:t>Group Exercise</a:t>
            </a:r>
          </a:p>
        </p:txBody>
      </p:sp>
      <p:sp>
        <p:nvSpPr>
          <p:cNvPr id="11" name="Rectangle 6">
            <a:extLst>
              <a:ext uri="{FF2B5EF4-FFF2-40B4-BE49-F238E27FC236}">
                <a16:creationId xmlns:a16="http://schemas.microsoft.com/office/drawing/2014/main" id="{04D8AD8F-EF7F-481F-B99A-B85138970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902700 h 5416094"/>
              <a:gd name="connsiteX1" fmla="*/ 902700 w 10515600"/>
              <a:gd name="connsiteY1" fmla="*/ 0 h 5416094"/>
              <a:gd name="connsiteX2" fmla="*/ 1746919 w 10515600"/>
              <a:gd name="connsiteY2" fmla="*/ 0 h 5416094"/>
              <a:gd name="connsiteX3" fmla="*/ 2329833 w 10515600"/>
              <a:gd name="connsiteY3" fmla="*/ 0 h 5416094"/>
              <a:gd name="connsiteX4" fmla="*/ 2825644 w 10515600"/>
              <a:gd name="connsiteY4" fmla="*/ 0 h 5416094"/>
              <a:gd name="connsiteX5" fmla="*/ 3582762 w 10515600"/>
              <a:gd name="connsiteY5" fmla="*/ 0 h 5416094"/>
              <a:gd name="connsiteX6" fmla="*/ 4165675 w 10515600"/>
              <a:gd name="connsiteY6" fmla="*/ 0 h 5416094"/>
              <a:gd name="connsiteX7" fmla="*/ 5009894 w 10515600"/>
              <a:gd name="connsiteY7" fmla="*/ 0 h 5416094"/>
              <a:gd name="connsiteX8" fmla="*/ 5505706 w 10515600"/>
              <a:gd name="connsiteY8" fmla="*/ 0 h 5416094"/>
              <a:gd name="connsiteX9" fmla="*/ 6349925 w 10515600"/>
              <a:gd name="connsiteY9" fmla="*/ 0 h 5416094"/>
              <a:gd name="connsiteX10" fmla="*/ 6758634 w 10515600"/>
              <a:gd name="connsiteY10" fmla="*/ 0 h 5416094"/>
              <a:gd name="connsiteX11" fmla="*/ 7428650 w 10515600"/>
              <a:gd name="connsiteY11" fmla="*/ 0 h 5416094"/>
              <a:gd name="connsiteX12" fmla="*/ 8098665 w 10515600"/>
              <a:gd name="connsiteY12" fmla="*/ 0 h 5416094"/>
              <a:gd name="connsiteX13" fmla="*/ 8681579 w 10515600"/>
              <a:gd name="connsiteY13" fmla="*/ 0 h 5416094"/>
              <a:gd name="connsiteX14" fmla="*/ 9612900 w 10515600"/>
              <a:gd name="connsiteY14" fmla="*/ 0 h 5416094"/>
              <a:gd name="connsiteX15" fmla="*/ 10515600 w 10515600"/>
              <a:gd name="connsiteY15" fmla="*/ 902700 h 5416094"/>
              <a:gd name="connsiteX16" fmla="*/ 10515600 w 10515600"/>
              <a:gd name="connsiteY16" fmla="*/ 1504482 h 5416094"/>
              <a:gd name="connsiteX17" fmla="*/ 10515600 w 10515600"/>
              <a:gd name="connsiteY17" fmla="*/ 2178479 h 5416094"/>
              <a:gd name="connsiteX18" fmla="*/ 10515600 w 10515600"/>
              <a:gd name="connsiteY18" fmla="*/ 2780261 h 5416094"/>
              <a:gd name="connsiteX19" fmla="*/ 10515600 w 10515600"/>
              <a:gd name="connsiteY19" fmla="*/ 3273722 h 5416094"/>
              <a:gd name="connsiteX20" fmla="*/ 10515600 w 10515600"/>
              <a:gd name="connsiteY20" fmla="*/ 3803291 h 5416094"/>
              <a:gd name="connsiteX21" fmla="*/ 10515600 w 10515600"/>
              <a:gd name="connsiteY21" fmla="*/ 4513394 h 5416094"/>
              <a:gd name="connsiteX22" fmla="*/ 9612900 w 10515600"/>
              <a:gd name="connsiteY22" fmla="*/ 5416094 h 5416094"/>
              <a:gd name="connsiteX23" fmla="*/ 9117089 w 10515600"/>
              <a:gd name="connsiteY23" fmla="*/ 5416094 h 5416094"/>
              <a:gd name="connsiteX24" fmla="*/ 8708379 w 10515600"/>
              <a:gd name="connsiteY24" fmla="*/ 5416094 h 5416094"/>
              <a:gd name="connsiteX25" fmla="*/ 8299670 w 10515600"/>
              <a:gd name="connsiteY25" fmla="*/ 5416094 h 5416094"/>
              <a:gd name="connsiteX26" fmla="*/ 7629654 w 10515600"/>
              <a:gd name="connsiteY26" fmla="*/ 5416094 h 5416094"/>
              <a:gd name="connsiteX27" fmla="*/ 7133843 w 10515600"/>
              <a:gd name="connsiteY27" fmla="*/ 5416094 h 5416094"/>
              <a:gd name="connsiteX28" fmla="*/ 6376726 w 10515600"/>
              <a:gd name="connsiteY28" fmla="*/ 5416094 h 5416094"/>
              <a:gd name="connsiteX29" fmla="*/ 5880914 w 10515600"/>
              <a:gd name="connsiteY29" fmla="*/ 5416094 h 5416094"/>
              <a:gd name="connsiteX30" fmla="*/ 5123797 w 10515600"/>
              <a:gd name="connsiteY30" fmla="*/ 5416094 h 5416094"/>
              <a:gd name="connsiteX31" fmla="*/ 4715088 w 10515600"/>
              <a:gd name="connsiteY31" fmla="*/ 5416094 h 5416094"/>
              <a:gd name="connsiteX32" fmla="*/ 3957970 w 10515600"/>
              <a:gd name="connsiteY32" fmla="*/ 5416094 h 5416094"/>
              <a:gd name="connsiteX33" fmla="*/ 3462159 w 10515600"/>
              <a:gd name="connsiteY33" fmla="*/ 5416094 h 5416094"/>
              <a:gd name="connsiteX34" fmla="*/ 3053449 w 10515600"/>
              <a:gd name="connsiteY34" fmla="*/ 5416094 h 5416094"/>
              <a:gd name="connsiteX35" fmla="*/ 2557638 w 10515600"/>
              <a:gd name="connsiteY35" fmla="*/ 5416094 h 5416094"/>
              <a:gd name="connsiteX36" fmla="*/ 1800521 w 10515600"/>
              <a:gd name="connsiteY36" fmla="*/ 5416094 h 5416094"/>
              <a:gd name="connsiteX37" fmla="*/ 902700 w 10515600"/>
              <a:gd name="connsiteY37" fmla="*/ 5416094 h 5416094"/>
              <a:gd name="connsiteX38" fmla="*/ 0 w 10515600"/>
              <a:gd name="connsiteY38" fmla="*/ 4513394 h 5416094"/>
              <a:gd name="connsiteX39" fmla="*/ 0 w 10515600"/>
              <a:gd name="connsiteY39" fmla="*/ 3911612 h 5416094"/>
              <a:gd name="connsiteX40" fmla="*/ 0 w 10515600"/>
              <a:gd name="connsiteY40" fmla="*/ 3309829 h 5416094"/>
              <a:gd name="connsiteX41" fmla="*/ 0 w 10515600"/>
              <a:gd name="connsiteY41" fmla="*/ 2780261 h 5416094"/>
              <a:gd name="connsiteX42" fmla="*/ 0 w 10515600"/>
              <a:gd name="connsiteY42" fmla="*/ 2106265 h 5416094"/>
              <a:gd name="connsiteX43" fmla="*/ 0 w 10515600"/>
              <a:gd name="connsiteY43" fmla="*/ 1504482 h 5416094"/>
              <a:gd name="connsiteX44" fmla="*/ 0 w 10515600"/>
              <a:gd name="connsiteY44"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515600" h="5416094" extrusionOk="0">
                <a:moveTo>
                  <a:pt x="0" y="902700"/>
                </a:moveTo>
                <a:cubicBezTo>
                  <a:pt x="-57306" y="368805"/>
                  <a:pt x="305054" y="37193"/>
                  <a:pt x="902700" y="0"/>
                </a:cubicBezTo>
                <a:cubicBezTo>
                  <a:pt x="1280419" y="-35006"/>
                  <a:pt x="1407743" y="-35339"/>
                  <a:pt x="1746919" y="0"/>
                </a:cubicBezTo>
                <a:cubicBezTo>
                  <a:pt x="2086095" y="35339"/>
                  <a:pt x="2146539" y="-12333"/>
                  <a:pt x="2329833" y="0"/>
                </a:cubicBezTo>
                <a:cubicBezTo>
                  <a:pt x="2513127" y="12333"/>
                  <a:pt x="2706706" y="12952"/>
                  <a:pt x="2825644" y="0"/>
                </a:cubicBezTo>
                <a:cubicBezTo>
                  <a:pt x="2944582" y="-12952"/>
                  <a:pt x="3420817" y="-27100"/>
                  <a:pt x="3582762" y="0"/>
                </a:cubicBezTo>
                <a:cubicBezTo>
                  <a:pt x="3744707" y="27100"/>
                  <a:pt x="4023584" y="-9167"/>
                  <a:pt x="4165675" y="0"/>
                </a:cubicBezTo>
                <a:cubicBezTo>
                  <a:pt x="4307766" y="9167"/>
                  <a:pt x="4770188" y="27031"/>
                  <a:pt x="5009894" y="0"/>
                </a:cubicBezTo>
                <a:cubicBezTo>
                  <a:pt x="5249600" y="-27031"/>
                  <a:pt x="5349881" y="-194"/>
                  <a:pt x="5505706" y="0"/>
                </a:cubicBezTo>
                <a:cubicBezTo>
                  <a:pt x="5661531" y="194"/>
                  <a:pt x="6129254" y="-29363"/>
                  <a:pt x="6349925" y="0"/>
                </a:cubicBezTo>
                <a:cubicBezTo>
                  <a:pt x="6570596" y="29363"/>
                  <a:pt x="6581199" y="-14617"/>
                  <a:pt x="6758634" y="0"/>
                </a:cubicBezTo>
                <a:cubicBezTo>
                  <a:pt x="6936069" y="14617"/>
                  <a:pt x="7246491" y="25675"/>
                  <a:pt x="7428650" y="0"/>
                </a:cubicBezTo>
                <a:cubicBezTo>
                  <a:pt x="7610809" y="-25675"/>
                  <a:pt x="7825190" y="-17078"/>
                  <a:pt x="8098665" y="0"/>
                </a:cubicBezTo>
                <a:cubicBezTo>
                  <a:pt x="8372141" y="17078"/>
                  <a:pt x="8559625" y="-21568"/>
                  <a:pt x="8681579" y="0"/>
                </a:cubicBezTo>
                <a:cubicBezTo>
                  <a:pt x="8803533" y="21568"/>
                  <a:pt x="9307226" y="-46066"/>
                  <a:pt x="9612900" y="0"/>
                </a:cubicBezTo>
                <a:cubicBezTo>
                  <a:pt x="10119954" y="-10560"/>
                  <a:pt x="10418674" y="366684"/>
                  <a:pt x="10515600" y="902700"/>
                </a:cubicBezTo>
                <a:cubicBezTo>
                  <a:pt x="10494548" y="1140809"/>
                  <a:pt x="10524881" y="1252168"/>
                  <a:pt x="10515600" y="1504482"/>
                </a:cubicBezTo>
                <a:cubicBezTo>
                  <a:pt x="10506319" y="1756796"/>
                  <a:pt x="10494309" y="1995078"/>
                  <a:pt x="10515600" y="2178479"/>
                </a:cubicBezTo>
                <a:cubicBezTo>
                  <a:pt x="10536891" y="2361880"/>
                  <a:pt x="10522845" y="2487483"/>
                  <a:pt x="10515600" y="2780261"/>
                </a:cubicBezTo>
                <a:cubicBezTo>
                  <a:pt x="10508355" y="3073039"/>
                  <a:pt x="10533694" y="3138252"/>
                  <a:pt x="10515600" y="3273722"/>
                </a:cubicBezTo>
                <a:cubicBezTo>
                  <a:pt x="10497506" y="3409192"/>
                  <a:pt x="10514952" y="3569910"/>
                  <a:pt x="10515600" y="3803291"/>
                </a:cubicBezTo>
                <a:cubicBezTo>
                  <a:pt x="10516248" y="4036672"/>
                  <a:pt x="10499126" y="4317688"/>
                  <a:pt x="10515600" y="4513394"/>
                </a:cubicBezTo>
                <a:cubicBezTo>
                  <a:pt x="10585499" y="4997151"/>
                  <a:pt x="10115437" y="5453981"/>
                  <a:pt x="9612900" y="5416094"/>
                </a:cubicBezTo>
                <a:cubicBezTo>
                  <a:pt x="9473271" y="5418358"/>
                  <a:pt x="9316384" y="5423764"/>
                  <a:pt x="9117089" y="5416094"/>
                </a:cubicBezTo>
                <a:cubicBezTo>
                  <a:pt x="8917794" y="5408424"/>
                  <a:pt x="8902141" y="5433256"/>
                  <a:pt x="8708379" y="5416094"/>
                </a:cubicBezTo>
                <a:cubicBezTo>
                  <a:pt x="8514617" y="5398933"/>
                  <a:pt x="8454700" y="5422387"/>
                  <a:pt x="8299670" y="5416094"/>
                </a:cubicBezTo>
                <a:cubicBezTo>
                  <a:pt x="8144640" y="5409801"/>
                  <a:pt x="7907022" y="5398388"/>
                  <a:pt x="7629654" y="5416094"/>
                </a:cubicBezTo>
                <a:cubicBezTo>
                  <a:pt x="7352286" y="5433800"/>
                  <a:pt x="7244777" y="5409877"/>
                  <a:pt x="7133843" y="5416094"/>
                </a:cubicBezTo>
                <a:cubicBezTo>
                  <a:pt x="7022909" y="5422311"/>
                  <a:pt x="6748865" y="5379753"/>
                  <a:pt x="6376726" y="5416094"/>
                </a:cubicBezTo>
                <a:cubicBezTo>
                  <a:pt x="6004587" y="5452435"/>
                  <a:pt x="5991442" y="5438860"/>
                  <a:pt x="5880914" y="5416094"/>
                </a:cubicBezTo>
                <a:cubicBezTo>
                  <a:pt x="5770386" y="5393328"/>
                  <a:pt x="5294303" y="5440618"/>
                  <a:pt x="5123797" y="5416094"/>
                </a:cubicBezTo>
                <a:cubicBezTo>
                  <a:pt x="4953291" y="5391570"/>
                  <a:pt x="4828705" y="5430421"/>
                  <a:pt x="4715088" y="5416094"/>
                </a:cubicBezTo>
                <a:cubicBezTo>
                  <a:pt x="4601471" y="5401767"/>
                  <a:pt x="4227806" y="5381491"/>
                  <a:pt x="3957970" y="5416094"/>
                </a:cubicBezTo>
                <a:cubicBezTo>
                  <a:pt x="3688134" y="5450697"/>
                  <a:pt x="3670638" y="5425309"/>
                  <a:pt x="3462159" y="5416094"/>
                </a:cubicBezTo>
                <a:cubicBezTo>
                  <a:pt x="3253680" y="5406879"/>
                  <a:pt x="3167443" y="5432031"/>
                  <a:pt x="3053449" y="5416094"/>
                </a:cubicBezTo>
                <a:cubicBezTo>
                  <a:pt x="2939455" y="5400158"/>
                  <a:pt x="2701485" y="5433995"/>
                  <a:pt x="2557638" y="5416094"/>
                </a:cubicBezTo>
                <a:cubicBezTo>
                  <a:pt x="2413791" y="5398193"/>
                  <a:pt x="2168647" y="5424510"/>
                  <a:pt x="1800521" y="5416094"/>
                </a:cubicBezTo>
                <a:cubicBezTo>
                  <a:pt x="1432395" y="5407678"/>
                  <a:pt x="1261364" y="5454497"/>
                  <a:pt x="902700" y="5416094"/>
                </a:cubicBezTo>
                <a:cubicBezTo>
                  <a:pt x="519468" y="5419760"/>
                  <a:pt x="63003" y="5077223"/>
                  <a:pt x="0" y="4513394"/>
                </a:cubicBezTo>
                <a:cubicBezTo>
                  <a:pt x="-20265" y="4243495"/>
                  <a:pt x="27650" y="4053844"/>
                  <a:pt x="0" y="3911612"/>
                </a:cubicBezTo>
                <a:cubicBezTo>
                  <a:pt x="-27650" y="3769380"/>
                  <a:pt x="24988" y="3469350"/>
                  <a:pt x="0" y="3309829"/>
                </a:cubicBezTo>
                <a:cubicBezTo>
                  <a:pt x="-24988" y="3150308"/>
                  <a:pt x="-16973" y="2933511"/>
                  <a:pt x="0" y="2780261"/>
                </a:cubicBezTo>
                <a:cubicBezTo>
                  <a:pt x="16973" y="2627011"/>
                  <a:pt x="-11552" y="2315258"/>
                  <a:pt x="0" y="2106265"/>
                </a:cubicBezTo>
                <a:cubicBezTo>
                  <a:pt x="11552" y="1897272"/>
                  <a:pt x="-9167" y="1726905"/>
                  <a:pt x="0" y="1504482"/>
                </a:cubicBezTo>
                <a:cubicBezTo>
                  <a:pt x="9167" y="1282059"/>
                  <a:pt x="10972" y="1160784"/>
                  <a:pt x="0" y="902700"/>
                </a:cubicBezTo>
                <a:close/>
              </a:path>
            </a:pathLst>
          </a:custGeom>
          <a:noFill/>
          <a:ln w="60325" cap="rnd">
            <a:solidFill>
              <a:schemeClr val="tx1"/>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226037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1" name="Rectangle 1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E53143-ABEA-4103-B8E2-3B8539E5DF54}"/>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8000"/>
              <a:t>Teachable machine</a:t>
            </a:r>
          </a:p>
        </p:txBody>
      </p:sp>
      <p:sp>
        <p:nvSpPr>
          <p:cNvPr id="3" name="Content Placeholder 2">
            <a:extLst>
              <a:ext uri="{FF2B5EF4-FFF2-40B4-BE49-F238E27FC236}">
                <a16:creationId xmlns:a16="http://schemas.microsoft.com/office/drawing/2014/main" id="{D551A7D7-EAB8-4038-98C3-34B85059362E}"/>
              </a:ext>
            </a:extLst>
          </p:cNvPr>
          <p:cNvSpPr>
            <a:spLocks noGrp="1"/>
          </p:cNvSpPr>
          <p:nvPr>
            <p:ph idx="1"/>
          </p:nvPr>
        </p:nvSpPr>
        <p:spPr>
          <a:xfrm>
            <a:off x="546663" y="4846320"/>
            <a:ext cx="5334020" cy="1572768"/>
          </a:xfrm>
        </p:spPr>
        <p:txBody>
          <a:bodyPr vert="horz" lIns="91440" tIns="45720" rIns="91440" bIns="45720" rtlCol="0">
            <a:normAutofit/>
          </a:bodyPr>
          <a:lstStyle/>
          <a:p>
            <a:pPr marL="0" indent="0">
              <a:buNone/>
            </a:pPr>
            <a:r>
              <a:rPr lang="en-US" sz="3600" b="1" dirty="0">
                <a:hlinkClick r:id="rId2"/>
              </a:rPr>
              <a:t>https://teachablemachine.withgoogle.com/</a:t>
            </a:r>
            <a:r>
              <a:rPr lang="en-US" sz="3600" b="1" dirty="0"/>
              <a:t> </a:t>
            </a:r>
          </a:p>
        </p:txBody>
      </p:sp>
      <p:sp>
        <p:nvSpPr>
          <p:cNvPr id="13"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C976E6"/>
          </a:solidFill>
          <a:ln w="38100" cap="rnd">
            <a:solidFill>
              <a:srgbClr val="C976E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bulb on yellow background with sketched light beams and cord">
            <a:extLst>
              <a:ext uri="{FF2B5EF4-FFF2-40B4-BE49-F238E27FC236}">
                <a16:creationId xmlns:a16="http://schemas.microsoft.com/office/drawing/2014/main" id="{520A69E8-13E9-4066-9800-0286C3D149E2}"/>
              </a:ext>
            </a:extLst>
          </p:cNvPr>
          <p:cNvPicPr>
            <a:picLocks noChangeAspect="1"/>
          </p:cNvPicPr>
          <p:nvPr/>
        </p:nvPicPr>
        <p:blipFill rotWithShape="1">
          <a:blip r:embed="rId3"/>
          <a:srcRect l="3831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37860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DAD8-F655-424F-ADA0-E12A5B65A9D8}"/>
              </a:ext>
            </a:extLst>
          </p:cNvPr>
          <p:cNvSpPr>
            <a:spLocks noGrp="1"/>
          </p:cNvSpPr>
          <p:nvPr>
            <p:ph type="title"/>
          </p:nvPr>
        </p:nvSpPr>
        <p:spPr/>
        <p:txBody>
          <a:bodyPr>
            <a:noAutofit/>
          </a:bodyPr>
          <a:lstStyle/>
          <a:p>
            <a:r>
              <a:rPr lang="en-US" sz="6600"/>
              <a:t>Objective</a:t>
            </a:r>
            <a:endParaRPr lang="en-US" sz="6600" dirty="0"/>
          </a:p>
        </p:txBody>
      </p:sp>
      <p:sp>
        <p:nvSpPr>
          <p:cNvPr id="3" name="Content Placeholder 2">
            <a:extLst>
              <a:ext uri="{FF2B5EF4-FFF2-40B4-BE49-F238E27FC236}">
                <a16:creationId xmlns:a16="http://schemas.microsoft.com/office/drawing/2014/main" id="{51EA1518-9B5D-4837-A9DE-BB522379EA10}"/>
              </a:ext>
            </a:extLst>
          </p:cNvPr>
          <p:cNvSpPr>
            <a:spLocks noGrp="1"/>
          </p:cNvSpPr>
          <p:nvPr>
            <p:ph idx="1"/>
          </p:nvPr>
        </p:nvSpPr>
        <p:spPr/>
        <p:txBody>
          <a:bodyPr>
            <a:normAutofit/>
          </a:bodyPr>
          <a:lstStyle/>
          <a:p>
            <a:r>
              <a:rPr lang="en-US" sz="4000" dirty="0"/>
              <a:t>Train your own neural network with something that has a real-world application (however modest).</a:t>
            </a:r>
            <a:r>
              <a:rPr lang="es-ES" sz="4000" dirty="0"/>
              <a:t>
</a:t>
            </a:r>
            <a:r>
              <a:rPr lang="en-US" sz="4000" dirty="0"/>
              <a:t>You must choose a type of project</a:t>
            </a:r>
            <a:endParaRPr lang="en-US" sz="3600" dirty="0"/>
          </a:p>
        </p:txBody>
      </p:sp>
      <p:sp>
        <p:nvSpPr>
          <p:cNvPr id="5" name="TextBox 4">
            <a:extLst>
              <a:ext uri="{FF2B5EF4-FFF2-40B4-BE49-F238E27FC236}">
                <a16:creationId xmlns:a16="http://schemas.microsoft.com/office/drawing/2014/main" id="{916ABB4C-8CEB-456B-94DC-99E700017829}"/>
              </a:ext>
            </a:extLst>
          </p:cNvPr>
          <p:cNvSpPr txBox="1"/>
          <p:nvPr/>
        </p:nvSpPr>
        <p:spPr>
          <a:xfrm>
            <a:off x="1889620" y="4294892"/>
            <a:ext cx="6094602" cy="1938992"/>
          </a:xfrm>
          <a:prstGeom prst="rect">
            <a:avLst/>
          </a:prstGeom>
          <a:noFill/>
        </p:spPr>
        <p:txBody>
          <a:bodyPr wrap="square">
            <a:spAutoFit/>
          </a:bodyPr>
          <a:lstStyle/>
          <a:p>
            <a:pPr marL="742950" indent="-742950">
              <a:buFont typeface="+mj-lt"/>
              <a:buAutoNum type="arabicPeriod"/>
            </a:pPr>
            <a:r>
              <a:rPr lang="es-ES" sz="4000" dirty="0" err="1"/>
              <a:t>Image</a:t>
            </a:r>
            <a:r>
              <a:rPr lang="es-ES" sz="4000" dirty="0"/>
              <a:t> </a:t>
            </a:r>
            <a:r>
              <a:rPr lang="es-ES" sz="4000" dirty="0" err="1"/>
              <a:t>recognition</a:t>
            </a:r>
            <a:r>
              <a:rPr lang="es-ES" sz="4000" dirty="0"/>
              <a:t>
</a:t>
            </a:r>
            <a:r>
              <a:rPr lang="es-ES" sz="4000" dirty="0" err="1"/>
              <a:t>Sound</a:t>
            </a:r>
            <a:r>
              <a:rPr lang="es-ES" sz="4000" dirty="0"/>
              <a:t> </a:t>
            </a:r>
            <a:r>
              <a:rPr lang="es-ES" sz="4000" dirty="0" err="1"/>
              <a:t>recognition</a:t>
            </a:r>
            <a:r>
              <a:rPr lang="es-ES" sz="4000" dirty="0"/>
              <a:t>
Pose </a:t>
            </a:r>
            <a:r>
              <a:rPr lang="es-ES" sz="4000" dirty="0" err="1"/>
              <a:t>recognition</a:t>
            </a:r>
            <a:endParaRPr lang="en-US" sz="4000" dirty="0"/>
          </a:p>
        </p:txBody>
      </p:sp>
    </p:spTree>
    <p:extLst>
      <p:ext uri="{BB962C8B-B14F-4D97-AF65-F5344CB8AC3E}">
        <p14:creationId xmlns:p14="http://schemas.microsoft.com/office/powerpoint/2010/main" val="206345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DAD8-F655-424F-ADA0-E12A5B65A9D8}"/>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51EA1518-9B5D-4837-A9DE-BB522379EA10}"/>
              </a:ext>
            </a:extLst>
          </p:cNvPr>
          <p:cNvSpPr>
            <a:spLocks noGrp="1"/>
          </p:cNvSpPr>
          <p:nvPr>
            <p:ph idx="1"/>
          </p:nvPr>
        </p:nvSpPr>
        <p:spPr/>
        <p:txBody>
          <a:bodyPr>
            <a:normAutofit/>
          </a:bodyPr>
          <a:lstStyle/>
          <a:p>
            <a:r>
              <a:rPr lang="en-US" sz="4000" dirty="0"/>
              <a:t>You must (successfully) train a neural network and present your work to the rest of the class.</a:t>
            </a:r>
            <a:r>
              <a:rPr lang="es-ES" sz="4000" dirty="0"/>
              <a:t>
</a:t>
            </a:r>
            <a:r>
              <a:rPr lang="en-US" sz="4000" dirty="0"/>
              <a:t>This is a group activity (you all have a group assigned to the group project, so we will use those same groups)</a:t>
            </a:r>
            <a:r>
              <a:rPr lang="es-ES" sz="4000" dirty="0"/>
              <a:t>
</a:t>
            </a:r>
            <a:r>
              <a:rPr lang="en-US" sz="4000" dirty="0"/>
              <a:t>One person from each group must upload the project through Canvas</a:t>
            </a:r>
            <a:endParaRPr lang="en-US" sz="3600" dirty="0"/>
          </a:p>
        </p:txBody>
      </p:sp>
    </p:spTree>
    <p:extLst>
      <p:ext uri="{BB962C8B-B14F-4D97-AF65-F5344CB8AC3E}">
        <p14:creationId xmlns:p14="http://schemas.microsoft.com/office/powerpoint/2010/main" val="2887595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DAD8-F655-424F-ADA0-E12A5B65A9D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51EA1518-9B5D-4837-A9DE-BB522379EA10}"/>
              </a:ext>
            </a:extLst>
          </p:cNvPr>
          <p:cNvSpPr>
            <a:spLocks noGrp="1"/>
          </p:cNvSpPr>
          <p:nvPr>
            <p:ph idx="1"/>
          </p:nvPr>
        </p:nvSpPr>
        <p:spPr/>
        <p:txBody>
          <a:bodyPr>
            <a:normAutofit fontScale="92500"/>
          </a:bodyPr>
          <a:lstStyle/>
          <a:p>
            <a:r>
              <a:rPr lang="en-US" sz="4000" dirty="0"/>
              <a:t>You have to choose a real application in which you will use teachable machine.</a:t>
            </a:r>
          </a:p>
          <a:p>
            <a:r>
              <a:rPr lang="en-US" sz="4000" dirty="0"/>
              <a:t>Then you will have to train the algorithm and test it with inputs that I have not seen until now (as I have done in class) and improve it if necessary.</a:t>
            </a:r>
          </a:p>
          <a:p>
            <a:r>
              <a:rPr lang="en-US" sz="4000" dirty="0"/>
              <a:t>On the day we determine, we will dedicate the class to groups presenting their models and explaining how they can fit into an application in the real world, including a demonstration of how they work live (remember to upload the link of the model to Canvas before class!).</a:t>
            </a:r>
            <a:endParaRPr lang="en-US" sz="3600" dirty="0"/>
          </a:p>
        </p:txBody>
      </p:sp>
    </p:spTree>
    <p:extLst>
      <p:ext uri="{BB962C8B-B14F-4D97-AF65-F5344CB8AC3E}">
        <p14:creationId xmlns:p14="http://schemas.microsoft.com/office/powerpoint/2010/main" val="61689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8DF67-93CB-37F2-B88D-DF46E9B9A7DC}"/>
              </a:ext>
            </a:extLst>
          </p:cNvPr>
          <p:cNvSpPr>
            <a:spLocks noGrp="1"/>
          </p:cNvSpPr>
          <p:nvPr>
            <p:ph type="ctrTitle"/>
          </p:nvPr>
        </p:nvSpPr>
        <p:spPr/>
        <p:txBody>
          <a:bodyPr/>
          <a:lstStyle/>
          <a:p>
            <a:endParaRPr lang="es-ES"/>
          </a:p>
        </p:txBody>
      </p:sp>
      <p:sp>
        <p:nvSpPr>
          <p:cNvPr id="3" name="Subtítulo 2">
            <a:extLst>
              <a:ext uri="{FF2B5EF4-FFF2-40B4-BE49-F238E27FC236}">
                <a16:creationId xmlns:a16="http://schemas.microsoft.com/office/drawing/2014/main" id="{10774531-34B9-0E9F-C8C7-C37B5B585C52}"/>
              </a:ext>
            </a:extLst>
          </p:cNvPr>
          <p:cNvSpPr>
            <a:spLocks noGrp="1"/>
          </p:cNvSpPr>
          <p:nvPr>
            <p:ph type="subTitle" idx="1"/>
          </p:nvPr>
        </p:nvSpPr>
        <p:spPr/>
        <p:txBody>
          <a:bodyPr/>
          <a:lstStyle/>
          <a:p>
            <a:endParaRPr lang="es-ES"/>
          </a:p>
        </p:txBody>
      </p:sp>
      <p:pic>
        <p:nvPicPr>
          <p:cNvPr id="5" name="Imagen 4">
            <a:extLst>
              <a:ext uri="{FF2B5EF4-FFF2-40B4-BE49-F238E27FC236}">
                <a16:creationId xmlns:a16="http://schemas.microsoft.com/office/drawing/2014/main" id="{F35DC24A-C138-2623-0FC4-9023E49C731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78421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3F36C-DA0B-97EF-47F2-2E8FCB123DC2}"/>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C221BA38-8382-0E9A-C343-F9AADC0F632F}"/>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916D5BDE-5EA5-09B1-8B87-E4ABE234D550}"/>
              </a:ext>
            </a:extLst>
          </p:cNvPr>
          <p:cNvPicPr>
            <a:picLocks noChangeAspect="1"/>
          </p:cNvPicPr>
          <p:nvPr/>
        </p:nvPicPr>
        <p:blipFill rotWithShape="1">
          <a:blip r:embed="rId2"/>
          <a:srcRect t="2812" r="12339" b="7768"/>
          <a:stretch/>
        </p:blipFill>
        <p:spPr>
          <a:xfrm>
            <a:off x="752213" y="436227"/>
            <a:ext cx="10687574" cy="6132353"/>
          </a:xfrm>
          <a:prstGeom prst="rect">
            <a:avLst/>
          </a:prstGeom>
        </p:spPr>
      </p:pic>
    </p:spTree>
    <p:extLst>
      <p:ext uri="{BB962C8B-B14F-4D97-AF65-F5344CB8AC3E}">
        <p14:creationId xmlns:p14="http://schemas.microsoft.com/office/powerpoint/2010/main" val="2973552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F0166-4E54-4315-9935-1734CA3577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D3A8C4-5831-4DA9-A293-2F77B500479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6CECAD7-02F3-4E3A-B77E-9E36C3B4BF49}"/>
              </a:ext>
            </a:extLst>
          </p:cNvPr>
          <p:cNvPicPr>
            <a:picLocks noChangeAspect="1"/>
          </p:cNvPicPr>
          <p:nvPr/>
        </p:nvPicPr>
        <p:blipFill>
          <a:blip r:embed="rId2"/>
          <a:stretch>
            <a:fillRect/>
          </a:stretch>
        </p:blipFill>
        <p:spPr>
          <a:xfrm>
            <a:off x="0" y="0"/>
            <a:ext cx="12192000" cy="6858000"/>
          </a:xfrm>
          <a:prstGeom prst="rect">
            <a:avLst/>
          </a:prstGeom>
        </p:spPr>
      </p:pic>
      <p:sp>
        <p:nvSpPr>
          <p:cNvPr id="6" name="Arrow: Down 5">
            <a:extLst>
              <a:ext uri="{FF2B5EF4-FFF2-40B4-BE49-F238E27FC236}">
                <a16:creationId xmlns:a16="http://schemas.microsoft.com/office/drawing/2014/main" id="{4E0A7B96-E40F-4E4B-BCAE-0188096D1DD5}"/>
              </a:ext>
            </a:extLst>
          </p:cNvPr>
          <p:cNvSpPr/>
          <p:nvPr/>
        </p:nvSpPr>
        <p:spPr>
          <a:xfrm>
            <a:off x="8819397" y="763058"/>
            <a:ext cx="578498" cy="1166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6D0DB99-DA36-4E90-BFC6-5F212496ECF6}"/>
              </a:ext>
            </a:extLst>
          </p:cNvPr>
          <p:cNvSpPr txBox="1"/>
          <p:nvPr/>
        </p:nvSpPr>
        <p:spPr>
          <a:xfrm>
            <a:off x="8254767" y="211839"/>
            <a:ext cx="935384" cy="523220"/>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en-US" sz="2800"/>
              <a:t>To export</a:t>
            </a:r>
            <a:endParaRPr lang="en-US" sz="2800" dirty="0"/>
          </a:p>
        </p:txBody>
      </p:sp>
    </p:spTree>
    <p:extLst>
      <p:ext uri="{BB962C8B-B14F-4D97-AF65-F5344CB8AC3E}">
        <p14:creationId xmlns:p14="http://schemas.microsoft.com/office/powerpoint/2010/main" val="54443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90F4-5469-4430-8E23-561B58CBA7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5270C7-978C-4D24-A268-BEBC26B2084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0F436DF2-9B8F-41A5-B560-995E04D73471}"/>
              </a:ext>
            </a:extLst>
          </p:cNvPr>
          <p:cNvPicPr>
            <a:picLocks noChangeAspect="1"/>
          </p:cNvPicPr>
          <p:nvPr/>
        </p:nvPicPr>
        <p:blipFill rotWithShape="1">
          <a:blip r:embed="rId2"/>
          <a:srcRect b="4281"/>
          <a:stretch/>
        </p:blipFill>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pic>
      <p:sp>
        <p:nvSpPr>
          <p:cNvPr id="8" name="Arrow: Down 7">
            <a:extLst>
              <a:ext uri="{FF2B5EF4-FFF2-40B4-BE49-F238E27FC236}">
                <a16:creationId xmlns:a16="http://schemas.microsoft.com/office/drawing/2014/main" id="{C3FB883D-12F1-4DFA-8683-26561C1FA6D6}"/>
              </a:ext>
            </a:extLst>
          </p:cNvPr>
          <p:cNvSpPr/>
          <p:nvPr/>
        </p:nvSpPr>
        <p:spPr>
          <a:xfrm>
            <a:off x="6096000" y="1313831"/>
            <a:ext cx="578498" cy="1166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E47D10-196C-4493-A70A-A6E0DAC5F832}"/>
              </a:ext>
            </a:extLst>
          </p:cNvPr>
          <p:cNvSpPr txBox="1"/>
          <p:nvPr/>
        </p:nvSpPr>
        <p:spPr>
          <a:xfrm>
            <a:off x="4672306" y="356557"/>
            <a:ext cx="3425886" cy="95410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2800" b="1" dirty="0"/>
              <a:t>Click here to generate the link to the file containing the project</a:t>
            </a:r>
          </a:p>
        </p:txBody>
      </p:sp>
    </p:spTree>
    <p:extLst>
      <p:ext uri="{BB962C8B-B14F-4D97-AF65-F5344CB8AC3E}">
        <p14:creationId xmlns:p14="http://schemas.microsoft.com/office/powerpoint/2010/main" val="2981203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AA82-78D1-4D96-96F5-517D5CE9B2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EE8594-A777-485A-A9D5-6DFB1E58D5E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ABF38B6-218C-4723-829F-9C6D2CAF2948}"/>
              </a:ext>
            </a:extLst>
          </p:cNvPr>
          <p:cNvPicPr>
            <a:picLocks noChangeAspect="1"/>
          </p:cNvPicPr>
          <p:nvPr/>
        </p:nvPicPr>
        <p:blipFill rotWithShape="1">
          <a:blip r:embed="rId2"/>
          <a:srcRect b="6526"/>
          <a:stretch/>
        </p:blipFill>
        <p:spPr>
          <a:xfrm>
            <a:off x="0" y="0"/>
            <a:ext cx="12192000" cy="6410425"/>
          </a:xfrm>
          <a:prstGeom prst="rect">
            <a:avLst/>
          </a:prstGeom>
        </p:spPr>
      </p:pic>
      <p:sp>
        <p:nvSpPr>
          <p:cNvPr id="6" name="Arrow: Down 5">
            <a:extLst>
              <a:ext uri="{FF2B5EF4-FFF2-40B4-BE49-F238E27FC236}">
                <a16:creationId xmlns:a16="http://schemas.microsoft.com/office/drawing/2014/main" id="{D119209D-C337-4AE8-A12C-353F6E8CD584}"/>
              </a:ext>
            </a:extLst>
          </p:cNvPr>
          <p:cNvSpPr/>
          <p:nvPr/>
        </p:nvSpPr>
        <p:spPr>
          <a:xfrm>
            <a:off x="6260841" y="1929384"/>
            <a:ext cx="578498" cy="1166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7EB93FA-E0DB-4237-864E-992A181A6500}"/>
              </a:ext>
            </a:extLst>
          </p:cNvPr>
          <p:cNvSpPr txBox="1"/>
          <p:nvPr/>
        </p:nvSpPr>
        <p:spPr>
          <a:xfrm>
            <a:off x="5696211" y="637377"/>
            <a:ext cx="3264909" cy="138499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2800" b="1"/>
              <a:t>This is the URL of your trained model, which you will send through Canvas</a:t>
            </a:r>
            <a:endParaRPr lang="en-US" sz="2800" b="1" dirty="0"/>
          </a:p>
        </p:txBody>
      </p:sp>
    </p:spTree>
    <p:extLst>
      <p:ext uri="{BB962C8B-B14F-4D97-AF65-F5344CB8AC3E}">
        <p14:creationId xmlns:p14="http://schemas.microsoft.com/office/powerpoint/2010/main" val="284361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08997-806F-354F-5E9B-FCD2F07A0F54}"/>
              </a:ext>
            </a:extLst>
          </p:cNvPr>
          <p:cNvSpPr>
            <a:spLocks noGrp="1"/>
          </p:cNvSpPr>
          <p:nvPr>
            <p:ph type="title"/>
          </p:nvPr>
        </p:nvSpPr>
        <p:spPr>
          <a:xfrm>
            <a:off x="838200" y="152400"/>
            <a:ext cx="10515600" cy="1325563"/>
          </a:xfrm>
        </p:spPr>
        <p:txBody>
          <a:bodyPr/>
          <a:lstStyle/>
          <a:p>
            <a:r>
              <a:rPr lang="en-US" dirty="0"/>
              <a:t>You will also have to upload the confusion matrix</a:t>
            </a:r>
            <a:endParaRPr lang="es-ES" dirty="0"/>
          </a:p>
        </p:txBody>
      </p:sp>
      <p:pic>
        <p:nvPicPr>
          <p:cNvPr id="5" name="Imagen 4">
            <a:extLst>
              <a:ext uri="{FF2B5EF4-FFF2-40B4-BE49-F238E27FC236}">
                <a16:creationId xmlns:a16="http://schemas.microsoft.com/office/drawing/2014/main" id="{728FF713-C3B8-A6CF-4C10-5925A965B025}"/>
              </a:ext>
            </a:extLst>
          </p:cNvPr>
          <p:cNvPicPr>
            <a:picLocks noChangeAspect="1"/>
          </p:cNvPicPr>
          <p:nvPr/>
        </p:nvPicPr>
        <p:blipFill rotWithShape="1">
          <a:blip r:embed="rId2"/>
          <a:srcRect l="5577" t="14669" r="6875"/>
          <a:stretch/>
        </p:blipFill>
        <p:spPr>
          <a:xfrm>
            <a:off x="1403838" y="1866903"/>
            <a:ext cx="9384323" cy="4916334"/>
          </a:xfrm>
          <a:prstGeom prst="rect">
            <a:avLst/>
          </a:prstGeom>
        </p:spPr>
      </p:pic>
      <p:sp>
        <p:nvSpPr>
          <p:cNvPr id="6" name="Flecha: hacia abajo 5">
            <a:extLst>
              <a:ext uri="{FF2B5EF4-FFF2-40B4-BE49-F238E27FC236}">
                <a16:creationId xmlns:a16="http://schemas.microsoft.com/office/drawing/2014/main" id="{46FD7E5F-EBE5-461D-A800-E10781307B76}"/>
              </a:ext>
            </a:extLst>
          </p:cNvPr>
          <p:cNvSpPr/>
          <p:nvPr/>
        </p:nvSpPr>
        <p:spPr>
          <a:xfrm rot="5814932">
            <a:off x="8761512" y="5057010"/>
            <a:ext cx="302595" cy="1501201"/>
          </a:xfrm>
          <a:prstGeom prst="downArrow">
            <a:avLst>
              <a:gd name="adj1" fmla="val 22449"/>
              <a:gd name="adj2" fmla="val 47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3309049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71D2FA-5284-138E-FB94-79D1433F6237}"/>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1DCD8A1F-A632-47D2-1910-D0342D756F94}"/>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9751F473-FD82-7D78-B754-27A23BEB064E}"/>
              </a:ext>
            </a:extLst>
          </p:cNvPr>
          <p:cNvPicPr>
            <a:picLocks noChangeAspect="1"/>
          </p:cNvPicPr>
          <p:nvPr/>
        </p:nvPicPr>
        <p:blipFill rotWithShape="1">
          <a:blip r:embed="rId2"/>
          <a:srcRect t="3247"/>
          <a:stretch/>
        </p:blipFill>
        <p:spPr>
          <a:xfrm>
            <a:off x="0" y="0"/>
            <a:ext cx="12192000" cy="6858000"/>
          </a:xfrm>
          <a:prstGeom prst="rect">
            <a:avLst/>
          </a:prstGeom>
        </p:spPr>
      </p:pic>
      <p:sp>
        <p:nvSpPr>
          <p:cNvPr id="6" name="Flecha: hacia abajo 5">
            <a:extLst>
              <a:ext uri="{FF2B5EF4-FFF2-40B4-BE49-F238E27FC236}">
                <a16:creationId xmlns:a16="http://schemas.microsoft.com/office/drawing/2014/main" id="{9781E873-7C25-E173-8530-593A4759277A}"/>
              </a:ext>
            </a:extLst>
          </p:cNvPr>
          <p:cNvSpPr/>
          <p:nvPr/>
        </p:nvSpPr>
        <p:spPr>
          <a:xfrm rot="13882330">
            <a:off x="8057462" y="2147948"/>
            <a:ext cx="448369" cy="1159930"/>
          </a:xfrm>
          <a:prstGeom prst="downArrow">
            <a:avLst>
              <a:gd name="adj1" fmla="val 22449"/>
              <a:gd name="adj2" fmla="val 47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190183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EBC18F-20B5-EA4D-2BA5-0B23E3BE6AEC}"/>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0F6653C2-65B5-31DE-F2B2-3A59478597D9}"/>
              </a:ext>
            </a:extLst>
          </p:cNvPr>
          <p:cNvPicPr>
            <a:picLocks noChangeAspect="1"/>
          </p:cNvPicPr>
          <p:nvPr/>
        </p:nvPicPr>
        <p:blipFill rotWithShape="1">
          <a:blip r:embed="rId2"/>
          <a:srcRect l="4038" t="15385"/>
          <a:stretch/>
        </p:blipFill>
        <p:spPr>
          <a:xfrm>
            <a:off x="0" y="1039528"/>
            <a:ext cx="12213038" cy="5788343"/>
          </a:xfrm>
          <a:prstGeom prst="rect">
            <a:avLst/>
          </a:prstGeom>
        </p:spPr>
      </p:pic>
      <p:sp>
        <p:nvSpPr>
          <p:cNvPr id="6" name="Flecha: hacia abajo 5">
            <a:extLst>
              <a:ext uri="{FF2B5EF4-FFF2-40B4-BE49-F238E27FC236}">
                <a16:creationId xmlns:a16="http://schemas.microsoft.com/office/drawing/2014/main" id="{AB7CE4AA-8AE3-AA9D-A47B-D503659D05F1}"/>
              </a:ext>
            </a:extLst>
          </p:cNvPr>
          <p:cNvSpPr/>
          <p:nvPr/>
        </p:nvSpPr>
        <p:spPr>
          <a:xfrm rot="13882330">
            <a:off x="8325884" y="3832260"/>
            <a:ext cx="451566" cy="1138846"/>
          </a:xfrm>
          <a:prstGeom prst="downArrow">
            <a:avLst>
              <a:gd name="adj1" fmla="val 22449"/>
              <a:gd name="adj2" fmla="val 47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Título 1">
            <a:extLst>
              <a:ext uri="{FF2B5EF4-FFF2-40B4-BE49-F238E27FC236}">
                <a16:creationId xmlns:a16="http://schemas.microsoft.com/office/drawing/2014/main" id="{D2A980FC-25C9-9390-727C-3E97F4A50E2A}"/>
              </a:ext>
            </a:extLst>
          </p:cNvPr>
          <p:cNvSpPr txBox="1">
            <a:spLocks/>
          </p:cNvSpPr>
          <p:nvPr/>
        </p:nvSpPr>
        <p:spPr>
          <a:xfrm>
            <a:off x="664945" y="13874"/>
            <a:ext cx="10515600" cy="132556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a:lstStyle>
          <a:p>
            <a:r>
              <a:rPr lang="en-US" dirty="0"/>
              <a:t>You have to upload a screenshot of the matrix</a:t>
            </a:r>
            <a:endParaRPr lang="es-ES" dirty="0"/>
          </a:p>
        </p:txBody>
      </p:sp>
    </p:spTree>
    <p:extLst>
      <p:ext uri="{BB962C8B-B14F-4D97-AF65-F5344CB8AC3E}">
        <p14:creationId xmlns:p14="http://schemas.microsoft.com/office/powerpoint/2010/main" val="4232293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71DA78-BF43-D44A-D219-D9B142AD6E71}"/>
              </a:ext>
            </a:extLst>
          </p:cNvPr>
          <p:cNvSpPr>
            <a:spLocks noGrp="1"/>
          </p:cNvSpPr>
          <p:nvPr>
            <p:ph type="title"/>
          </p:nvPr>
        </p:nvSpPr>
        <p:spPr>
          <a:xfrm>
            <a:off x="838200" y="564952"/>
            <a:ext cx="10515600" cy="1325563"/>
          </a:xfrm>
        </p:spPr>
        <p:txBody>
          <a:bodyPr/>
          <a:lstStyle/>
          <a:p>
            <a:pPr algn="ctr"/>
            <a:r>
              <a:rPr lang="en-US" dirty="0"/>
              <a:t>You have to upload a screenshot of the matrix</a:t>
            </a:r>
            <a:endParaRPr lang="es-ES" dirty="0"/>
          </a:p>
        </p:txBody>
      </p:sp>
      <p:pic>
        <p:nvPicPr>
          <p:cNvPr id="4" name="Imagen 3">
            <a:extLst>
              <a:ext uri="{FF2B5EF4-FFF2-40B4-BE49-F238E27FC236}">
                <a16:creationId xmlns:a16="http://schemas.microsoft.com/office/drawing/2014/main" id="{89A3C79F-1299-03D8-FDC0-42C388F039E1}"/>
              </a:ext>
            </a:extLst>
          </p:cNvPr>
          <p:cNvPicPr>
            <a:picLocks noChangeAspect="1"/>
          </p:cNvPicPr>
          <p:nvPr/>
        </p:nvPicPr>
        <p:blipFill rotWithShape="1">
          <a:blip r:embed="rId2"/>
          <a:srcRect l="70481" t="13597" r="-481" b="19732"/>
          <a:stretch/>
        </p:blipFill>
        <p:spPr>
          <a:xfrm>
            <a:off x="3910757" y="2027208"/>
            <a:ext cx="4370486" cy="4737601"/>
          </a:xfrm>
          <a:prstGeom prst="rect">
            <a:avLst/>
          </a:prstGeom>
        </p:spPr>
      </p:pic>
    </p:spTree>
    <p:extLst>
      <p:ext uri="{BB962C8B-B14F-4D97-AF65-F5344CB8AC3E}">
        <p14:creationId xmlns:p14="http://schemas.microsoft.com/office/powerpoint/2010/main" val="997661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EE488-82B9-4EE6-A331-4B141BC14D30}"/>
              </a:ext>
            </a:extLst>
          </p:cNvPr>
          <p:cNvSpPr>
            <a:spLocks noGrp="1"/>
          </p:cNvSpPr>
          <p:nvPr>
            <p:ph type="title"/>
          </p:nvPr>
        </p:nvSpPr>
        <p:spPr/>
        <p:txBody>
          <a:bodyPr>
            <a:normAutofit/>
          </a:bodyPr>
          <a:lstStyle/>
          <a:p>
            <a:r>
              <a:rPr lang="es-ES"/>
              <a:t>Real-world application</a:t>
            </a:r>
            <a:endParaRPr lang="en-US" dirty="0"/>
          </a:p>
        </p:txBody>
      </p:sp>
      <p:sp>
        <p:nvSpPr>
          <p:cNvPr id="3" name="Content Placeholder 2">
            <a:extLst>
              <a:ext uri="{FF2B5EF4-FFF2-40B4-BE49-F238E27FC236}">
                <a16:creationId xmlns:a16="http://schemas.microsoft.com/office/drawing/2014/main" id="{118526E6-1E77-4EC7-B4CB-9ACD4ECF1E56}"/>
              </a:ext>
            </a:extLst>
          </p:cNvPr>
          <p:cNvSpPr>
            <a:spLocks noGrp="1"/>
          </p:cNvSpPr>
          <p:nvPr>
            <p:ph idx="1"/>
          </p:nvPr>
        </p:nvSpPr>
        <p:spPr/>
        <p:txBody>
          <a:bodyPr>
            <a:normAutofit/>
          </a:bodyPr>
          <a:lstStyle/>
          <a:p>
            <a:r>
              <a:rPr lang="en-US" sz="4000" dirty="0"/>
              <a:t>Considering what can be done, think of a real-world application. Do not just focus on the classification, think what you would do with the results of the network if you could connect the result to another System, which would take as a starting point the result of the neural network.</a:t>
            </a:r>
          </a:p>
          <a:p>
            <a:r>
              <a:rPr lang="en-US" sz="4000" dirty="0"/>
              <a:t>It doesn't have to be a complicated application! Think about some of the examples we've talked about in class.</a:t>
            </a:r>
          </a:p>
        </p:txBody>
      </p:sp>
    </p:spTree>
    <p:extLst>
      <p:ext uri="{BB962C8B-B14F-4D97-AF65-F5344CB8AC3E}">
        <p14:creationId xmlns:p14="http://schemas.microsoft.com/office/powerpoint/2010/main" val="3696598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1EE5-7DEF-4D92-BD0C-137BEAD8C3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BE253F-67FE-45E5-A5BE-3468739E4DE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A94D15D-11DC-48B2-996E-6A32FA19AA45}"/>
              </a:ext>
            </a:extLst>
          </p:cNvPr>
          <p:cNvPicPr>
            <a:picLocks noChangeAspect="1"/>
          </p:cNvPicPr>
          <p:nvPr/>
        </p:nvPicPr>
        <p:blipFill rotWithShape="1">
          <a:blip r:embed="rId2"/>
          <a:srcRect l="-1" t="-208" r="25"/>
          <a:stretch/>
        </p:blipFill>
        <p:spPr>
          <a:xfrm>
            <a:off x="0" y="113251"/>
            <a:ext cx="12188952" cy="6617749"/>
          </a:xfrm>
          <a:prstGeom prst="rect">
            <a:avLst/>
          </a:prstGeom>
        </p:spPr>
      </p:pic>
      <p:sp>
        <p:nvSpPr>
          <p:cNvPr id="5" name="Arrow: Down 4">
            <a:extLst>
              <a:ext uri="{FF2B5EF4-FFF2-40B4-BE49-F238E27FC236}">
                <a16:creationId xmlns:a16="http://schemas.microsoft.com/office/drawing/2014/main" id="{0E9691B8-F72F-457E-A033-B2AFD2734991}"/>
              </a:ext>
            </a:extLst>
          </p:cNvPr>
          <p:cNvSpPr/>
          <p:nvPr/>
        </p:nvSpPr>
        <p:spPr>
          <a:xfrm rot="6430705">
            <a:off x="2094747" y="3658658"/>
            <a:ext cx="578498" cy="1166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C40D91E4-EA9A-466B-AA9C-B9AEB24DC4CC}"/>
              </a:ext>
            </a:extLst>
          </p:cNvPr>
          <p:cNvSpPr/>
          <p:nvPr/>
        </p:nvSpPr>
        <p:spPr>
          <a:xfrm rot="8415892">
            <a:off x="10469334" y="902115"/>
            <a:ext cx="578498" cy="11663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FAA4389-5BBC-4F47-B7ED-8728A17DE48B}"/>
              </a:ext>
            </a:extLst>
          </p:cNvPr>
          <p:cNvSpPr txBox="1"/>
          <p:nvPr/>
        </p:nvSpPr>
        <p:spPr>
          <a:xfrm>
            <a:off x="8757045" y="2066822"/>
            <a:ext cx="3264909" cy="1077218"/>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s-ES" sz="3200" b="1"/>
              <a:t>Tutorials and Recommended Reading</a:t>
            </a:r>
            <a:endParaRPr lang="en-US" sz="3200" b="1" dirty="0"/>
          </a:p>
        </p:txBody>
      </p:sp>
      <p:sp>
        <p:nvSpPr>
          <p:cNvPr id="8" name="TextBox 7">
            <a:extLst>
              <a:ext uri="{FF2B5EF4-FFF2-40B4-BE49-F238E27FC236}">
                <a16:creationId xmlns:a16="http://schemas.microsoft.com/office/drawing/2014/main" id="{9308D5BE-0E21-4816-8238-2D760F078734}"/>
              </a:ext>
            </a:extLst>
          </p:cNvPr>
          <p:cNvSpPr txBox="1"/>
          <p:nvPr/>
        </p:nvSpPr>
        <p:spPr>
          <a:xfrm>
            <a:off x="2829567" y="4358655"/>
            <a:ext cx="3264909" cy="1077218"/>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s-ES" sz="3200" b="1"/>
              <a:t>Tutorials and Recommended Reading</a:t>
            </a:r>
            <a:endParaRPr lang="en-US" sz="3200" b="1" dirty="0"/>
          </a:p>
        </p:txBody>
      </p:sp>
    </p:spTree>
    <p:extLst>
      <p:ext uri="{BB962C8B-B14F-4D97-AF65-F5344CB8AC3E}">
        <p14:creationId xmlns:p14="http://schemas.microsoft.com/office/powerpoint/2010/main" val="218076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8B88F-695B-4D79-8FB8-33A27BF9C239}"/>
              </a:ext>
            </a:extLst>
          </p:cNvPr>
          <p:cNvSpPr>
            <a:spLocks noGrp="1"/>
          </p:cNvSpPr>
          <p:nvPr>
            <p:ph type="title"/>
          </p:nvPr>
        </p:nvSpPr>
        <p:spPr>
          <a:xfrm>
            <a:off x="235500" y="1242277"/>
            <a:ext cx="7021585" cy="840829"/>
          </a:xfrm>
        </p:spPr>
        <p:txBody>
          <a:bodyPr anchor="b">
            <a:normAutofit fontScale="90000"/>
          </a:bodyPr>
          <a:lstStyle/>
          <a:p>
            <a:pPr>
              <a:lnSpc>
                <a:spcPct val="90000"/>
              </a:lnSpc>
            </a:pPr>
            <a:r>
              <a:rPr lang="en-US" sz="6000"/>
              <a:t>OTHER Videos and reference materials</a:t>
            </a:r>
            <a:endParaRPr lang="en-US" sz="6000" dirty="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C976E6"/>
          </a:solidFill>
          <a:ln w="38100" cap="rnd">
            <a:solidFill>
              <a:srgbClr val="C976E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8814D24-F9D3-41FF-8D5D-5BF1365D1F70}"/>
              </a:ext>
            </a:extLst>
          </p:cNvPr>
          <p:cNvSpPr>
            <a:spLocks noGrp="1"/>
          </p:cNvSpPr>
          <p:nvPr>
            <p:ph idx="1"/>
          </p:nvPr>
        </p:nvSpPr>
        <p:spPr>
          <a:xfrm>
            <a:off x="192947" y="2711909"/>
            <a:ext cx="11520998" cy="4032840"/>
          </a:xfrm>
        </p:spPr>
        <p:txBody>
          <a:bodyPr>
            <a:normAutofit lnSpcReduction="10000"/>
          </a:bodyPr>
          <a:lstStyle/>
          <a:p>
            <a:pPr marL="0" indent="0">
              <a:buNone/>
            </a:pPr>
            <a:r>
              <a:rPr lang="en-US" dirty="0"/>
              <a:t> 1. </a:t>
            </a:r>
            <a:r>
              <a:rPr lang="en-US" dirty="0">
                <a:hlinkClick r:id="rId2"/>
              </a:rPr>
              <a:t>https://www.youtube.com/playlist?list=PLJfHZtseuscuTQfodmFnbZ3rBgCWsRT9t</a:t>
            </a:r>
            <a:r>
              <a:rPr lang="en-US" dirty="0"/>
              <a:t> These are very short videos from Google explaining how to collect data and train Teachable Machine</a:t>
            </a:r>
            <a:r>
              <a:rPr lang="es-ES" dirty="0"/>
              <a:t>
</a:t>
            </a:r>
            <a:r>
              <a:rPr lang="en-US" dirty="0"/>
              <a:t>2. Videos showing Teachable Machine in Action and how to use the models as part of other projects (this last part is sadly too advanced for you now, but as soon as you learn to code you can do similar things! The presenter is a very enthusiastic person, and the videos are in English):</a:t>
            </a:r>
            <a:r>
              <a:rPr lang="es-ES" dirty="0"/>
              <a:t>
	</a:t>
            </a:r>
            <a:r>
              <a:rPr lang="en-US" sz="2800" dirty="0"/>
              <a:t>Part 1: </a:t>
            </a:r>
            <a:r>
              <a:rPr lang="en-US" dirty="0" err="1"/>
              <a:t>Imágenes</a:t>
            </a:r>
            <a:r>
              <a:rPr lang="en-US" dirty="0"/>
              <a:t> </a:t>
            </a:r>
            <a:r>
              <a:rPr lang="en-US" sz="2800" dirty="0">
                <a:hlinkClick r:id="rId3"/>
              </a:rPr>
              <a:t>https://www.youtube.com/watch?v=kwcillcWOg0</a:t>
            </a:r>
            <a:r>
              <a:rPr lang="en-US" sz="2800" dirty="0"/>
              <a:t> </a:t>
            </a:r>
          </a:p>
          <a:p>
            <a:pPr marL="914400" lvl="2" indent="0">
              <a:buNone/>
            </a:pPr>
            <a:r>
              <a:rPr lang="en-US" sz="2800" dirty="0"/>
              <a:t>Part 2: Poses </a:t>
            </a:r>
            <a:r>
              <a:rPr lang="en-US" sz="2800" dirty="0">
                <a:hlinkClick r:id="rId4"/>
              </a:rPr>
              <a:t>https://www.youtube.com/watch?v=UPgxnGC8oBU</a:t>
            </a:r>
            <a:r>
              <a:rPr lang="en-US" sz="2800" dirty="0"/>
              <a:t> </a:t>
            </a:r>
          </a:p>
          <a:p>
            <a:pPr marL="914400" lvl="2" indent="0">
              <a:buNone/>
            </a:pPr>
            <a:r>
              <a:rPr lang="en-US" sz="2800" dirty="0"/>
              <a:t>Part 3: </a:t>
            </a:r>
            <a:r>
              <a:rPr lang="en-US" sz="2800" dirty="0" err="1"/>
              <a:t>Sonidos</a:t>
            </a:r>
            <a:r>
              <a:rPr lang="en-US" sz="2800" dirty="0"/>
              <a:t> </a:t>
            </a:r>
            <a:r>
              <a:rPr lang="en-US" sz="2800" dirty="0">
                <a:hlinkClick r:id="rId5"/>
              </a:rPr>
              <a:t>https://www.youtube.com/watch?v=TOrVsLklltM</a:t>
            </a:r>
            <a:r>
              <a:rPr lang="en-US" sz="2800" dirty="0"/>
              <a:t> </a:t>
            </a:r>
            <a:endParaRPr lang="en-US" sz="2400" dirty="0"/>
          </a:p>
        </p:txBody>
      </p:sp>
    </p:spTree>
    <p:extLst>
      <p:ext uri="{BB962C8B-B14F-4D97-AF65-F5344CB8AC3E}">
        <p14:creationId xmlns:p14="http://schemas.microsoft.com/office/powerpoint/2010/main" val="3047827334"/>
      </p:ext>
    </p:extLst>
  </p:cSld>
  <p:clrMapOvr>
    <a:masterClrMapping/>
  </p:clrMapOvr>
</p:sld>
</file>

<file path=ppt/theme/theme1.xml><?xml version="1.0" encoding="utf-8"?>
<a:theme xmlns:a="http://schemas.openxmlformats.org/drawingml/2006/main" name="SketchyVTI">
  <a:themeElements>
    <a:clrScheme name="AnalogousFromLightSeedLeftStep">
      <a:dk1>
        <a:srgbClr val="000000"/>
      </a:dk1>
      <a:lt1>
        <a:srgbClr val="FFFFFF"/>
      </a:lt1>
      <a:dk2>
        <a:srgbClr val="213B39"/>
      </a:dk2>
      <a:lt2>
        <a:srgbClr val="E4E8E2"/>
      </a:lt2>
      <a:accent1>
        <a:srgbClr val="C976E6"/>
      </a:accent1>
      <a:accent2>
        <a:srgbClr val="8458E1"/>
      </a:accent2>
      <a:accent3>
        <a:srgbClr val="7680E6"/>
      </a:accent3>
      <a:accent4>
        <a:srgbClr val="589EE1"/>
      </a:accent4>
      <a:accent5>
        <a:srgbClr val="45B1BA"/>
      </a:accent5>
      <a:accent6>
        <a:srgbClr val="47B58F"/>
      </a:accent6>
      <a:hlink>
        <a:srgbClr val="658E56"/>
      </a:hlink>
      <a:folHlink>
        <a:srgbClr val="7F7F7F"/>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98</TotalTime>
  <Words>501</Words>
  <Application>Microsoft Office PowerPoint</Application>
  <PresentationFormat>Widescreen</PresentationFormat>
  <Paragraphs>28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The Hand Bold</vt:lpstr>
      <vt:lpstr>The Serif Hand Black</vt:lpstr>
      <vt:lpstr>SketchyVTI</vt:lpstr>
      <vt:lpstr>Teachable Machine </vt:lpstr>
      <vt:lpstr>Teachable machine</vt:lpstr>
      <vt:lpstr>Objective</vt:lpstr>
      <vt:lpstr>Objective</vt:lpstr>
      <vt:lpstr>methodology</vt:lpstr>
      <vt:lpstr>PowerPoint Presentation</vt:lpstr>
      <vt:lpstr>PowerPoint Presentation</vt:lpstr>
      <vt:lpstr>PowerPoint Presentation</vt:lpstr>
      <vt:lpstr>PowerPoint Presentation</vt:lpstr>
      <vt:lpstr>PowerPoint Presentation</vt:lpstr>
      <vt:lpstr>You will also have to upload the confusion matrix</vt:lpstr>
      <vt:lpstr>PowerPoint Presentation</vt:lpstr>
      <vt:lpstr>PowerPoint Presentation</vt:lpstr>
      <vt:lpstr>You have to upload a screenshot of the matrix</vt:lpstr>
      <vt:lpstr>Real-world application</vt:lpstr>
      <vt:lpstr>PowerPoint Presentation</vt:lpstr>
      <vt:lpstr>OTHER Videos and reference materials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Teachable Machine</dc:title>
  <dc:creator>Velasco López, Miguel</dc:creator>
  <cp:lastModifiedBy>Guada Azze, Abel</cp:lastModifiedBy>
  <cp:revision>7</cp:revision>
  <dcterms:created xsi:type="dcterms:W3CDTF">2021-10-13T13:16:18Z</dcterms:created>
  <dcterms:modified xsi:type="dcterms:W3CDTF">2024-10-02T07:25:00Z</dcterms:modified>
</cp:coreProperties>
</file>